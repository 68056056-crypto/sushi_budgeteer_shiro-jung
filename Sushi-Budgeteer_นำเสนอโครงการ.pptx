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7A140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5486400" cy="5486400"/>
          </a:xfrm>
          <a:prstGeom prst="ellipse">
            <a:avLst/>
          </a:prstGeom>
          <a:solidFill>
            <a:srgbClr val="7A140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report/icon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รายงานสรุปโครงการ  ·  NATURAL LANGUAGE PROCESSING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Sushi-Budgeteer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Agentic AI จัดเซ็ตเมนูซูชิให้คุ้มค่าที่สุดตามงบประมาณ ด้วย LangGraph ReAct Agent และ Dynamic Programming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หลักสูตรปริญญาโท (Master's Degree)  ·  23 สิงหาคม 2569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5806440"/>
            <a:ext cx="2025396" cy="38404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806440"/>
            <a:ext cx="2025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12948" y="580644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2948" y="580644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42332" y="580644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42332" y="5806440"/>
            <a:ext cx="9829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9904" y="5806440"/>
            <a:ext cx="461772" cy="38404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9904" y="5806440"/>
            <a:ext cx="4617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16268" y="580644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16268" y="5806440"/>
            <a:ext cx="9829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หัวข้อนำเสนอ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เนื้อหาที่จะนำเสนอวันนี้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ภาพรวมทั้ง 7 ส่วนของโครงการ Sushi-Budgeteer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93392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521" y="212652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947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26464" y="218541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ที่มาและปัญหาของโครงการ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18504" y="1993392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tmp/report/icons/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41" y="212652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58584" y="1947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58584" y="218541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ภาพรวมระบบและ Tech Stack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2770632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6384" y="2889504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tmp/report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1" y="302264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2843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26464" y="308152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vs Function Calling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172200" y="2770632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18504" y="2889504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/tmp/report/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41" y="3022641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58584" y="2843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58584" y="308152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สถาปัตยกรรมและขั้นตอนการทำงาน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640080" y="3666744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86384" y="3785616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/tmp/report/icons/d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3918753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26464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426464" y="397764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อัลกอริทึมหลัก: Scoring + Dynamic Programming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6172200" y="3666744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18504" y="3785616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/tmp/report/icons/r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41" y="3918753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58584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58584" y="397764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Semantic Search และ MCP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640080" y="4562856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86384" y="4681728"/>
            <a:ext cx="512064" cy="512064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6" descr="/tmp/report/icons/dem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521" y="4814865"/>
            <a:ext cx="245791" cy="24579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26464" y="4636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426464" y="4873752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ตัวอย่างการใช้งานจริงและบทสรุป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ที่มาและปัญหา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ทำไมต้องมี Sushi-Budgeteer?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การเลือกเมนูซูชิให้ได้ความคุ้มค่าสูงสุดภายในงบประมาณที่จำกัด พร้อมทั้งหลีกเลี่ยงอาการแพ้อาหารและตรงกับความชอบส่วนตัว เป็นปัญหาที่ซับซ้อนเกินกว่าจะแก้ด้วยการ “เลือกแบบสุ่ม” หรือ “กฎตายตัว” เพียงอย่างเดียว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685800" cy="685800"/>
          </a:xfrm>
          <a:prstGeom prst="ellipse">
            <a:avLst/>
          </a:prstGeom>
          <a:solidFill>
            <a:srgbClr val="7A140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3287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776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งบประมาณจำกัด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5720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ต้องเลือกจากเมนู ~43 รายการให้ได้คุ้มค่าที่สุด ไม่ใช่แค่ราคาถูกที่สุด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78892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108960"/>
            <a:ext cx="685800" cy="685800"/>
          </a:xfrm>
          <a:prstGeom prst="ellipse">
            <a:avLst/>
          </a:prstGeom>
          <a:solidFill>
            <a:srgbClr val="7A140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tmp/repor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32872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9776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ความปลอดภัยจากอาการแพ้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5720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ต้องบล็อกเมนูที่มีสารก่อภูมิแพ้อย่างเด็ดขาด ห้ามผิดพลาดแม้แต่รายการเดียว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429000" cy="2926080"/>
          </a:xfrm>
          <a:prstGeom prst="roundRect">
            <a:avLst>
              <a:gd name="adj" fmla="val 281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108960"/>
            <a:ext cx="685800" cy="685800"/>
          </a:xfrm>
          <a:prstGeom prst="ellipse">
            <a:avLst/>
          </a:prstGeom>
          <a:solidFill>
            <a:srgbClr val="7A140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tmp/report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32872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9776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ภาษาธรรมชาติที่ไม่ตายตัว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45720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ผู้ใช้พิมพ์ความต้องการเป็นประโยคอิสระ และให้ข้อมูลทีละส่วนในหลายข้อความ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ภาพรวมระบบ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Sushi-Budgeteer คืออะไร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20840" cy="4572000"/>
          </a:xfrm>
          <a:prstGeom prst="roundRect">
            <a:avLst>
              <a:gd name="adj" fmla="val 18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ผู้ช่วย AI แบบ Agentic ที่จัดชุดเมนูซูชิร้าน Sushiro ให้คุ้มค่าที่สุด ภายในงบประมาณของผู้ใช้ โดยใช้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249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2432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— LLM ตัดสินใจเรียก Tool เองทุกขั้นตอน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3291840"/>
            <a:ext cx="457200" cy="45720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tmp/report/icons/d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07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31012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(0/1 Knapsack) — หาคำตอบที่คุ้มค่าที่สุดจริง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60120" y="3977640"/>
            <a:ext cx="457200" cy="45720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tmp/report/icons/r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09651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9592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FAISS — ค้นหาเมนูด้วยความหมาย ไม่ใช่แค่คำตรงตัว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60120" y="4663440"/>
            <a:ext cx="457200" cy="45720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tmp/report/icons/mc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823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68172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เชื่อมกับ AI client ภายนอกได้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589520" y="160020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863840" y="1764792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20" name="Text 14"/>
          <p:cNvSpPr/>
          <p:nvPr/>
        </p:nvSpPr>
        <p:spPr>
          <a:xfrm>
            <a:off x="7863840" y="253288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รายการเมนูในฐานข้อมูล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589520" y="317296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863840" y="33375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5+2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7863840" y="410565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หลัก + RAG Tools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589520" y="4745736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863840" y="491032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7863840" y="567842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ประเภทสารก่อภูมิแพ้ที่รองรับ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vs Function Calling ทั่วไป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70632" y="1691640"/>
            <a:ext cx="4293108" cy="54864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70632" y="1691640"/>
            <a:ext cx="42931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ทั่วไป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228332" y="1691640"/>
            <a:ext cx="4293108" cy="548640"/>
          </a:xfrm>
          <a:prstGeom prst="roundRect">
            <a:avLst>
              <a:gd name="adj" fmla="val 13333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8332" y="1691640"/>
            <a:ext cx="42931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Sushi-Budgeteer Agent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รูปแบบการทำงาน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0632" y="244144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244144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ตายตัว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8332" y="244144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11212" y="244144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ตัดสินใจเองทุกขั้นตอน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การเลือกเครื่องมือ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70632" y="326440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53512" y="326440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เรียกตามลำดับที่กำหนดไว้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8332" y="326440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11212" y="326440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เลือกตามบริบทและเหตุผลของสถานการณ์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การจัดการข้อผิดพลาด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0632" y="408736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53512" y="408736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retry logic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8332" y="408736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11212" y="408736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→ ปรับพารามิเตอร์ → คำนวณใหม่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91032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หน่วยความจำ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70632" y="491032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53512" y="491032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ไม่จำบริบทก่อนหน้า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8332" y="491032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11212" y="491032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จดจำงบ/อาการแพ้ตลอดบทสนทนา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73328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การถามกลับผู้ใช้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70632" y="573328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53512" y="573328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8332" y="5733288"/>
            <a:ext cx="4293108" cy="566928"/>
          </a:xfrm>
          <a:prstGeom prst="roundRect">
            <a:avLst>
              <a:gd name="adj" fmla="val 11290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11212" y="5733288"/>
            <a:ext cx="39273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ถามเมื่อข้อมูลไม่ครบถ้วน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องค์ประกอบหลักของระบบ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repor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state.py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หน่วยความจำของบทสนทนา (budget / allergens / dislikes)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965960"/>
            <a:ext cx="640080" cy="64008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tmp/report/icons/tool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93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tools.py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 5 อย่าง: search, filter, build, verify, clarify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965960"/>
            <a:ext cx="640080" cy="64008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tmp/report/icons/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743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optimizer.py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Function + 0/1 Knapsack Dynamic Programming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370832"/>
            <a:ext cx="640080" cy="64008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tmp/report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453725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agent.py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513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+ ตัวสกัด Intent จากข้อความ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409651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370832"/>
            <a:ext cx="640080" cy="64008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tmp/report/icons/r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293" y="453725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rag.py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90872" y="5513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สำหรับค้นหาเมนูเชิงความหมาย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409651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370832"/>
            <a:ext cx="640080" cy="64008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tmp/report/icons/u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765" y="453725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 + mcp_server.py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67344" y="5513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5 หน้า และ MCP Server 7 tools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ขั้นตอนการทำงาน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Flow — จากข้อความสู่คำตอบ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70432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588" y="289535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รับข้อความ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ผู้ใช้พิมพ์ความต้องการเป็นภาษาธรรมชาติ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02093" y="3415284"/>
            <a:ext cx="168981" cy="164592"/>
          </a:xfrm>
          <a:prstGeom prst="rightArrow">
            <a:avLst/>
          </a:prstGeom>
          <a:solidFill>
            <a:srgbClr val="B3261E"/>
          </a:solidFill>
          <a:ln/>
        </p:spPr>
      </p:sp>
      <p:sp>
        <p:nvSpPr>
          <p:cNvPr id="11" name="Shape 8"/>
          <p:cNvSpPr/>
          <p:nvPr/>
        </p:nvSpPr>
        <p:spPr>
          <a:xfrm>
            <a:off x="2487168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96896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tmp/report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676" y="2895356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8608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สกัด Intent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578608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แปลงข้อความเป็น JSON (budget/allergens/...)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149181" y="3415284"/>
            <a:ext cx="168981" cy="164592"/>
          </a:xfrm>
          <a:prstGeom prst="rightArrow">
            <a:avLst/>
          </a:prstGeom>
          <a:solidFill>
            <a:srgbClr val="B3261E"/>
          </a:solidFill>
          <a:ln/>
        </p:spPr>
      </p:sp>
      <p:sp>
        <p:nvSpPr>
          <p:cNvPr id="18" name="Shape 14"/>
          <p:cNvSpPr/>
          <p:nvPr/>
        </p:nvSpPr>
        <p:spPr>
          <a:xfrm>
            <a:off x="4334256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443984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864608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/tmp/repor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64" y="289535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25696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 State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425696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บันทึกบริบทไว้ใช้ตลอดบทสนทนา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996269" y="3415284"/>
            <a:ext cx="168981" cy="164592"/>
          </a:xfrm>
          <a:prstGeom prst="rightArrow">
            <a:avLst/>
          </a:prstGeom>
          <a:solidFill>
            <a:srgbClr val="B3261E"/>
          </a:solidFill>
          <a:ln/>
        </p:spPr>
      </p:sp>
      <p:sp>
        <p:nvSpPr>
          <p:cNvPr id="25" name="Shape 20"/>
          <p:cNvSpPr/>
          <p:nvPr/>
        </p:nvSpPr>
        <p:spPr>
          <a:xfrm>
            <a:off x="6181344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291072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711696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/tmp/report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852" y="2895356"/>
            <a:ext cx="280904" cy="2809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72784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เลือก Tool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272784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ตัดสินใจว่าจะเรียก tool ใด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843357" y="3415284"/>
            <a:ext cx="168981" cy="164592"/>
          </a:xfrm>
          <a:prstGeom prst="rightArrow">
            <a:avLst/>
          </a:prstGeom>
          <a:solidFill>
            <a:srgbClr val="B3261E"/>
          </a:solidFill>
          <a:ln/>
        </p:spPr>
      </p:sp>
      <p:sp>
        <p:nvSpPr>
          <p:cNvPr id="32" name="Shape 26"/>
          <p:cNvSpPr/>
          <p:nvPr/>
        </p:nvSpPr>
        <p:spPr>
          <a:xfrm>
            <a:off x="8028432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13816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8558784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4" descr="/tmp/report/icons/d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940" y="2895356"/>
            <a:ext cx="280904" cy="28090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19872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Score + DP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8119872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 allergen → ให้คะแนน → คำนวณชุดที่ดีที่สุด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690445" y="3415284"/>
            <a:ext cx="168981" cy="164592"/>
          </a:xfrm>
          <a:prstGeom prst="rightArrow">
            <a:avLst/>
          </a:prstGeom>
          <a:solidFill>
            <a:srgbClr val="B3261E"/>
          </a:solidFill>
          <a:ln/>
        </p:spPr>
      </p:sp>
      <p:sp>
        <p:nvSpPr>
          <p:cNvPr id="39" name="Shape 32"/>
          <p:cNvSpPr/>
          <p:nvPr/>
        </p:nvSpPr>
        <p:spPr>
          <a:xfrm>
            <a:off x="9875520" y="2331720"/>
            <a:ext cx="1645920" cy="2331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9985248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10405872" y="2743200"/>
            <a:ext cx="585216" cy="585216"/>
          </a:xfrm>
          <a:prstGeom prst="ellipse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5" descr="/tmp/repor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028" y="2895356"/>
            <a:ext cx="280904" cy="28090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6696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แล้วตอบ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9966960" y="39044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ตรวจสอบผลก่อนส่งคำตอบให้ผู้ใช้เสมอ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หากตรวจสอบ (verify) ไม่ผ่าน — Agent จะไม่ส่งผลลัพธ์ที่ผิดพลาดออกไป แต่จะวิเคราะห์ปัญหา ปรับพารามิเตอร์ และคำนวณใหม่โดยอัตโนมัติ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เครื่องมือของ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เครื่องมือหลักที่ Agent เลือกใช้เอง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9656"/>
            <a:ext cx="530352" cy="53035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repor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04" y="195754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647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search_menu_items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80560" y="17647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ค้นหาเมนูตาม keyword / category / ช่วงราคา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15400" y="1837944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10" name="Text 7"/>
          <p:cNvSpPr/>
          <p:nvPr/>
        </p:nvSpPr>
        <p:spPr>
          <a:xfrm>
            <a:off x="9006840" y="18379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ผู้ใช้ถามหาเมนูเฉพาะเจาะจง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96112" y="2734056"/>
            <a:ext cx="530352" cy="53035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/tmp/report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04" y="2871948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6791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filter_constraints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80560" y="26791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กรอง allergen (ตัดออกเด็ดขาด) และ dislike (ลดคะแนน)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915400" y="2752344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17" name="Text 13"/>
          <p:cNvSpPr/>
          <p:nvPr/>
        </p:nvSpPr>
        <p:spPr>
          <a:xfrm>
            <a:off x="9006840" y="27523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ก่อนขั้นตอน optimize เสมอ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" y="352044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112" y="3648456"/>
            <a:ext cx="530352" cy="53035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/tmp/report/icons/cal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4" y="3786348"/>
            <a:ext cx="254569" cy="2545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593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build_optimal_set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480560" y="35935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จัดชุดเมนูคุ้มค่าที่สุดด้วย DP Knapsack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15400" y="3666744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24" name="Text 19"/>
          <p:cNvSpPr/>
          <p:nvPr/>
        </p:nvSpPr>
        <p:spPr>
          <a:xfrm>
            <a:off x="9006840" y="36667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มีงบครบและพร้อมคำนวณ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0080" y="443484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6112" y="4562856"/>
            <a:ext cx="530352" cy="53035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/tmp/repor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04" y="4700748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45079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verify_result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4480560" y="45079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ตรวจยอดรวมและ allergen ก่อนตอบกลับ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915400" y="4581144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31" name="Text 25"/>
          <p:cNvSpPr/>
          <p:nvPr/>
        </p:nvSpPr>
        <p:spPr>
          <a:xfrm>
            <a:off x="9006840" y="45811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build_optimal_set ทุกครั้ง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40080" y="534924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96112" y="5477256"/>
            <a:ext cx="530352" cy="53035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4" descr="/tmp/report/icons/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04" y="5615148"/>
            <a:ext cx="254569" cy="25456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91640" y="54223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request_clarification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4480560" y="542239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ถามผู้ใช้เมื่อข้อมูลไม่ครบหรือขัดแย้ง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915400" y="5495544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38" name="Text 31"/>
          <p:cNvSpPr/>
          <p:nvPr/>
        </p:nvSpPr>
        <p:spPr>
          <a:xfrm>
            <a:off x="9006840" y="54955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งบไม่พอ หรือยังไม่ระบุงบ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Tools เสริม: semantic_search_menu และ rag_augmented_build สำหรับการค้นหาเชิงความหมาย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อัลกอริทึมหลัก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การให้คะแนนความคุ้มค่า (0–10 คะแนน)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score_item() ใน optimizer.py — ให้คะแนนทุกเมนูก่อนส่งเข้า DP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81912" y="2240280"/>
            <a:ext cx="658368" cy="658368"/>
          </a:xfrm>
          <a:prstGeom prst="ellipse">
            <a:avLst/>
          </a:prstGeom>
          <a:solidFill>
            <a:srgbClr val="3D836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088" y="241145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Score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297680"/>
            <a:ext cx="1993392" cy="146304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4297680"/>
            <a:ext cx="1993392" cy="146304"/>
          </a:xfrm>
          <a:prstGeom prst="roundRect">
            <a:avLst>
              <a:gd name="adj" fmla="val 50000"/>
            </a:avLst>
          </a:prstGeom>
          <a:solidFill>
            <a:srgbClr val="3D8361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572000"/>
            <a:ext cx="2176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ตรงกับ keyword ที่ผู้ใช้ชอบ × 2.5 คะแนน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5112" y="2240280"/>
            <a:ext cx="658368" cy="658368"/>
          </a:xfrm>
          <a:prstGeom prst="ellipse">
            <a:avLst/>
          </a:prstGeom>
          <a:solidFill>
            <a:srgbClr val="3D836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/tmp/report/icons/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288" y="241145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306324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0–3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520440" y="37490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Efficiency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657600" y="4297680"/>
            <a:ext cx="1993392" cy="146304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19" name="Shape 15"/>
          <p:cNvSpPr/>
          <p:nvPr/>
        </p:nvSpPr>
        <p:spPr>
          <a:xfrm>
            <a:off x="3657600" y="4297680"/>
            <a:ext cx="1196035" cy="146304"/>
          </a:xfrm>
          <a:prstGeom prst="roundRect">
            <a:avLst>
              <a:gd name="adj" fmla="val 50000"/>
            </a:avLst>
          </a:prstGeom>
          <a:solidFill>
            <a:srgbClr val="3D8361"/>
          </a:solidFill>
          <a:ln/>
        </p:spPr>
      </p:sp>
      <p:sp>
        <p:nvSpPr>
          <p:cNvPr id="20" name="Text 16"/>
          <p:cNvSpPr/>
          <p:nvPr/>
        </p:nvSpPr>
        <p:spPr>
          <a:xfrm>
            <a:off x="3566160" y="4572000"/>
            <a:ext cx="2176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 35–80 บาท ได้คะแนนเต็ม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68312" y="2240280"/>
            <a:ext cx="658368" cy="658368"/>
          </a:xfrm>
          <a:prstGeom prst="ellipse">
            <a:avLst/>
          </a:prstGeom>
          <a:solidFill>
            <a:srgbClr val="3D836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/tmp/repor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88" y="2411456"/>
            <a:ext cx="316017" cy="31601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306324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8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263640" y="37490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Diversity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00800" y="4297680"/>
            <a:ext cx="1993392" cy="146304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0" y="4297680"/>
            <a:ext cx="797357" cy="146304"/>
          </a:xfrm>
          <a:prstGeom prst="roundRect">
            <a:avLst>
              <a:gd name="adj" fmla="val 50000"/>
            </a:avLst>
          </a:prstGeom>
          <a:solidFill>
            <a:srgbClr val="3D8361"/>
          </a:solidFill>
          <a:ln/>
        </p:spPr>
      </p:sp>
      <p:sp>
        <p:nvSpPr>
          <p:cNvPr id="28" name="Text 23"/>
          <p:cNvSpPr/>
          <p:nvPr/>
        </p:nvSpPr>
        <p:spPr>
          <a:xfrm>
            <a:off x="6309360" y="4572000"/>
            <a:ext cx="2176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หมวดที่ไม่ใช่ปลาดิบล้วน ได้โบนัส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869680" y="196596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811512" y="2240280"/>
            <a:ext cx="658368" cy="658368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3" descr="/tmp/report/icons/thumbs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688" y="2411456"/>
            <a:ext cx="316017" cy="31601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69680" y="306324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</a:t>
            </a:r>
            <a:endParaRPr lang="en-US" sz="3000" dirty="0"/>
          </a:p>
        </p:txBody>
      </p:sp>
      <p:sp>
        <p:nvSpPr>
          <p:cNvPr id="33" name="Text 27"/>
          <p:cNvSpPr/>
          <p:nvPr/>
        </p:nvSpPr>
        <p:spPr>
          <a:xfrm>
            <a:off x="9006840" y="374904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Dislike Penalty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144000" y="4297680"/>
            <a:ext cx="1993392" cy="146304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35" name="Shape 29"/>
          <p:cNvSpPr/>
          <p:nvPr/>
        </p:nvSpPr>
        <p:spPr>
          <a:xfrm>
            <a:off x="9144000" y="4297680"/>
            <a:ext cx="1196035" cy="14630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36" name="Text 30"/>
          <p:cNvSpPr/>
          <p:nvPr/>
        </p:nvSpPr>
        <p:spPr>
          <a:xfrm>
            <a:off x="9052560" y="4572000"/>
            <a:ext cx="2176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หากตรงกับสิ่งที่ไม่ชอบ จะถูกหักคะแนน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อัลกอริทึมหลัก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 Knapsack — Dynamic Programming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dp_knapsack() หาชุดเมนูที่คะแนนรวมสูงสุด โดยไม่เกินงบประมาณ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3931920"/>
          </a:xfrm>
          <a:prstGeom prst="roundRect">
            <a:avLst>
              <a:gd name="adj" fmla="val 2093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การแมปตัวแปรของปัญหา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724912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786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(ความจุ)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5786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งบประมาณของผู้ใช้ (budget)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2841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(น้ำหนัก)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3284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ราคาของแต่ละเมนู (price_baht)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224528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07822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(มูลค่า)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0782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คะแนนความคุ้มค่าจาก score_item()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974336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828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(ของแต่ละชิ้น)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8280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เมนูอาหาร — เลือกได้เพียงครั้งเดียว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แนวคิดของอัลกอริทึม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สร้างตาราง dp[i][w] เก็บ “คะแนนรวมสูงสุดที่เป็นไปได้” เมื่อพิจารณาเมนู i รายการแรก และมีงบเหลือ w บาท สำหรับแต่ละเมนูจะเปรียบเทียบ 2 ทางเลือกคือ “ไม่เลือก” กับ “เลือก” แล้วเก็บค่าที่ดีกว่าไว้ จากนั้น Traceback เพื่อดึงชุดเมนูที่ถูกเลือกจริงออกมา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16052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2C5F4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29768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ผลลัพธ์คือคำตอบที่ดีที่สุดจริง (Global Optimum) ภายใต้เงื่อนไขงบประมาณ — ไม่ใช่เพียงคำตอบโดยประมาณเหมือนการสุ่มเลือก (random baseline) ซึ่งในระบบนี้ใช้เพื่อเปรียบเทียบเท่านั้น ไม่เคยใช้เป็นคำตอบจริง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การค้นหาเชิงความหมาย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Retrieval-Augmented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rag.py ใช้ FAISS Vector Store ค้นหาเมนูด้วย “ความหมาย” ไม่ใช่แค่คำตรงตัว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7A140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ค้นหาแบบเดิม (substring)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“อยากได้อะไรมันๆ รสเข้มข้น”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ไม่พบผลลัพธ์ เพราะไม่มีคำเหล่านี้ตรงกับชื่อเมนูโดยตรง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874520"/>
            <a:ext cx="5166360" cy="3977640"/>
          </a:xfrm>
          <a:prstGeom prst="roundRect">
            <a:avLst>
              <a:gd name="adj" fmla="val 2069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94560"/>
            <a:ext cx="548640" cy="54864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/tmp/report/icons/r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3372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(RAG)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75120" y="31089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“อยากได้อะไรมันๆ รสเข้มข้น”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75120" y="36576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พบ otoro, uni, salmon belly แม้ไม่มีคำตรงกันเลย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75120" y="42062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โดยยังผ่านการกรอง allergen และคำนวณด้วย DP เหมือนเส้นทางปกติทุกประการ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Model: text-embedding-3-small (OpenAI)   ·   Vector Store: FAISS (จัดเก็บบนดิสก์ ไม่ embed ซ้ำทุกครั้ง)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การเชื่อมต่อระบบภายนอก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เปิดให้ AI client ภายนอกเรียกใช้งานระบบได้โดยตรง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583680" cy="4023360"/>
          </a:xfrm>
          <a:prstGeom prst="roundRect">
            <a:avLst>
              <a:gd name="adj" fmla="val 2045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 MCP Server ให้บริการ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596896"/>
            <a:ext cx="100584" cy="1005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41448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MCP Tools — search_menu, filter_menu, build_set, verify_set, clarify, semantic_search, rag_build_set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100584" cy="1005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09544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MCP Resource — sushiro://menu/catalog อ่านแคตตาล็อกเมนูทั้งหมด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133088"/>
            <a:ext cx="100584" cy="1005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7764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Prompt Template — budget_optimizer สร้างคำสั่งสำเร็จรูป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901184"/>
            <a:ext cx="100584" cy="10058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745736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Transport modes — stdio (Claude Desktop) และ sse (HTTP)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1783080"/>
            <a:ext cx="4069080" cy="4023360"/>
          </a:xfrm>
          <a:prstGeom prst="roundRect">
            <a:avLst>
              <a:gd name="adj" fmla="val 204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66860" y="2103120"/>
            <a:ext cx="731520" cy="731520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/tmp/report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055" y="2293315"/>
            <a:ext cx="351130" cy="3511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0" y="3017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เชื่อมต่อได้กับ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63840" y="342900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2B2B2B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3429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863840" y="402336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2B2B2B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0" y="40233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Kiro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863840" y="461772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2B2B2B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0" y="4617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mcp_client_demo.py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ส่วนติดต่อผู้ใช้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 — 5 หน้าใช้งาน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พร้อมแคชข้อมูล (cache) และกรอก API Key ได้ 3 ช่องทาง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48256" cy="3383280"/>
          </a:xfrm>
          <a:prstGeom prst="roundRect">
            <a:avLst>
              <a:gd name="adj" fmla="val 4018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3312" y="2240280"/>
            <a:ext cx="621792" cy="621792"/>
          </a:xfrm>
          <a:prstGeom prst="ellipse">
            <a:avLst/>
          </a:prstGeom>
          <a:solidFill>
            <a:srgbClr val="B3261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978" y="240194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6324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🍣 Chat กับ Agent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379476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สนทนากับ Agent แบบ real-time พร้อมแสดง state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62072" y="1920240"/>
            <a:ext cx="2048256" cy="3383280"/>
          </a:xfrm>
          <a:prstGeom prst="roundRect">
            <a:avLst>
              <a:gd name="adj" fmla="val 4018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5304" y="2240280"/>
            <a:ext cx="621792" cy="621792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tmp/report/icons/r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970" y="240194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306324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RAG Search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26664" y="379476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ทดลองค้นหาเมนูเชิงความหมาย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84064" y="1920240"/>
            <a:ext cx="2048256" cy="3383280"/>
          </a:xfrm>
          <a:prstGeom prst="roundRect">
            <a:avLst>
              <a:gd name="adj" fmla="val 4018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97296" y="2240280"/>
            <a:ext cx="621792" cy="621792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tmp/repor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962" y="240194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1224" y="306324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DP vs Random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48656" y="379476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DP กับการสุ่มเลือกเมนู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06056" y="1920240"/>
            <a:ext cx="2048256" cy="3383280"/>
          </a:xfrm>
          <a:prstGeom prst="roundRect">
            <a:avLst>
              <a:gd name="adj" fmla="val 4018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19288" y="2240280"/>
            <a:ext cx="621792" cy="621792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/tmp/report/icons/listU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954" y="2401946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3216" y="306324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ดูเมนูทั้งหมด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70648" y="379476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ตารางเมนูทั้งหมดพร้อมตัวกรอง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528048" y="1920240"/>
            <a:ext cx="2048256" cy="3383280"/>
          </a:xfrm>
          <a:prstGeom prst="roundRect">
            <a:avLst>
              <a:gd name="adj" fmla="val 4018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41280" y="2240280"/>
            <a:ext cx="621792" cy="621792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/tmp/report/icons/inf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2946" y="2401946"/>
            <a:ext cx="298460" cy="298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65208" y="306324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Architecture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92640" y="379476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อธิบายสถาปัตยกรรมให้ผู้ใช้ทั่วไปเข้าใจ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ความปลอดภัย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นโยบายด้านการแพ้อาหาร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แยกจัดการ Allergen และ Dislike อย่างชัดเจนโดยเจตนา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3017520"/>
          </a:xfrm>
          <a:prstGeom prst="roundRect">
            <a:avLst>
              <a:gd name="adj" fmla="val 2727"/>
            </a:avLst>
          </a:prstGeom>
          <a:solidFill>
            <a:srgbClr val="FDEC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594360" cy="594360"/>
          </a:xfrm>
          <a:prstGeom prst="ellipse">
            <a:avLst/>
          </a:prstGeom>
          <a:solidFill>
            <a:srgbClr val="7A140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repor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3033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(แพ้อาหาร)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บล็อกออกจากรายการอย่างเด็ดขาด (hard block) — ไม่ถูกส่งเข้า DP เลย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ที่มาข้อมูล: คอลัมน์ allergens_verified เท่านั้น (ห้ามเดาจาก description)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A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· crustacean · molluscs · egg · milk · gluten · soy · sesame · pork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5166360" cy="3017520"/>
          </a:xfrm>
          <a:prstGeom prst="roundRect">
            <a:avLst>
              <a:gd name="adj" fmla="val 2727"/>
            </a:avLst>
          </a:prstGeom>
          <a:solidFill>
            <a:srgbClr val="FFF6E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148840"/>
            <a:ext cx="594360" cy="594360"/>
          </a:xfrm>
          <a:prstGeom prst="ellipse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tmp/repor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3033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Dislike (ไม่ชอบ)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7512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ยังคงอยู่ใน pool และเข้า DP ได้ แต่คะแนนจะถูกหักลง 3 คะแนน (soft constraint)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75120" y="38404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ที่มาข้อมูล: การจับคู่คำสำคัญ (keyword matching) จากข้อความผู้ใช้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14400" y="5120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ข้อมูล allergen มาจากชุดข้อมูลจำลองเพื่อการศึกษาเท่านั้น ไม่รับประกันการปนเปื้อนจริงในร้าน — ควรแจ้งพนักงานโดยตรงหากมีอาการแพ้รุนแรง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ตัวอย่างการใช้งานจริง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บทสนทนาตัวอย่าง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ระบบจดจำบริบทและปรับผลลัพธ์ใหม่ให้อัตโนมัติเมื่อมีข้อมูลเพิ่มเติม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566928"/>
          </a:xfrm>
          <a:prstGeom prst="roundRect">
            <a:avLst>
              <a:gd name="adj" fmla="val 22581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จัดเซ็ตงบ 300 บาท แพ้กุ้ง ชอบแซลมอน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7315200" cy="1417320"/>
          </a:xfrm>
          <a:prstGeom prst="roundRect">
            <a:avLst>
              <a:gd name="adj" fmla="val 5806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79192"/>
            <a:ext cx="6766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build_optimal_set → verify_result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เซ็ตเมนูแนะนำ (300 บาท → ใช้ 280 บาท / 93.3%)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ซูชิแซลมอน  40 บาท     2. ซูชิหน้าท้องแซลมอน  60 บาท 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4160520"/>
            <a:ext cx="5394960" cy="566928"/>
          </a:xfrm>
          <a:prstGeom prst="roundRect">
            <a:avLst>
              <a:gd name="adj" fmla="val 22581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41605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แพ้ปลาด้วยนะ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056632"/>
            <a:ext cx="10332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อัปเดต state: allergens += ["fish"] → ["crustacean", "fish"] → คำนวณใหม่ทันที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จัดเซ็ตใหม่แล้วโดยหลีกเลี่ยงกุ้งและปลาทุกชนิด — ผู้ใช้ไม่ต้องพิมพ์งบหรือความชอบซ้ำเลย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บทสรุป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สรุปผลและข้อจำกัดของระบบ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repor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สิ่งที่ทำได้สำเร็จ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ผสาน Agentic AI (ReAct) + DP + RAG + MCP เข้าด้วยกันเป็นระบบเดียว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5021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หาคำตอบที่คุ้มค่าที่สุดจริง (Global Optimum) ด้วย Dynamic Programming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2153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ตรวจสอบความปลอดภัยด้าน allergen ก่อนตอบทุกครั้ง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492861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จดจำบริบทบทสนทนาตลอดเซสชัน ผู้ใช้ไม่ต้องพิมพ์ซ้ำ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166360" cy="4297680"/>
          </a:xfrm>
          <a:prstGeom prst="roundRect">
            <a:avLst>
              <a:gd name="adj" fmla="val 1915"/>
            </a:avLst>
          </a:prstGeom>
          <a:solidFill>
            <a:srgbClr val="FFF6E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011680"/>
            <a:ext cx="548640" cy="548640"/>
          </a:xfrm>
          <a:prstGeom prst="ellipse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tmp/repor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1543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ข้อจำกัดที่ยังมีอยู่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75120" y="27889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ข้อมูล allergen เป็นชุดข้อมูลจำลอง ยังไม่เชื่อมกับข้อมูลจริงของร้าน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50215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ความแม่นยำของการสกัด intent ขึ้นกับความสามารถของ LLM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5120" y="4215384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RAG ต้องพึ่ง OpenAI Embeddings API ซึ่งมีค่าใช้จ่ายต่อการเรียกใช้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75120" y="4928616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DP ปัจจุบันรองรับราคาที่เป็นจำนวนเต็ม (บาท) เท่านั้น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7A140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5486400" cy="5486400"/>
          </a:xfrm>
          <a:prstGeom prst="ellipse">
            <a:avLst/>
          </a:prstGeom>
          <a:solidFill>
            <a:srgbClr val="7A140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C5F4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report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37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แนวทางพัฒนาต่อยอด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2606040"/>
            <a:ext cx="10515600" cy="621792"/>
          </a:xfrm>
          <a:prstGeom prst="roundRect">
            <a:avLst>
              <a:gd name="adj" fmla="val 14706"/>
            </a:avLst>
          </a:prstGeom>
          <a:solidFill>
            <a:srgbClr val="2B2B2B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60604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เชื่อมต่อฐานข้อมูลเมนูและราคาจริงของร้าน Sushiro ผ่าน API หรือระบบ POS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10515600" cy="621792"/>
          </a:xfrm>
          <a:prstGeom prst="roundRect">
            <a:avLst>
              <a:gd name="adj" fmla="val 14706"/>
            </a:avLst>
          </a:prstGeom>
          <a:solidFill>
            <a:srgbClr val="2B2B2B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42900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เพิ่มระบบยืนยันตัวตนและบันทึกประวัติการสั่งซื้อ เพื่อปรับคำแนะนำให้ตรงรสนิยมส่วนบุคคล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251960"/>
            <a:ext cx="10515600" cy="621792"/>
          </a:xfrm>
          <a:prstGeom prst="roundRect">
            <a:avLst>
              <a:gd name="adj" fmla="val 14706"/>
            </a:avLst>
          </a:prstGeom>
          <a:solidFill>
            <a:srgbClr val="2B2B2B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25196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ขยายฟังก์ชันให้คะแนน (scoring) ให้รองรับข้อมูลโภชนาการ เช่น แคลอรีหรือโปรตีน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5394960"/>
            <a:ext cx="2926080" cy="0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ค่ะ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Sushi-Budgeteer — Agentic AI Mini Project (NLP)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2026-08-23T08:07:02Z</dcterms:created>
  <dcterms:modified xsi:type="dcterms:W3CDTF">2026-08-23T08:07:02Z</dcterms:modified>
</cp:coreProperties>
</file>